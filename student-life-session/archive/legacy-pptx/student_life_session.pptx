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starting list, not exhaustive — ask upper years, everyone has their own favourite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span the full range of format — one-off outings, recurring series, cultural events, alumni-inclusive events. The fund isn't just "pizza and a room."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priced per person so you can see the fund goes further than you'd think — none of these require a huge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1600200"/>
            <a:ext cx="10972525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1600200"/>
            <a:ext cx="10972525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Life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MScAC Orientation Week</a:t>
            </a:r>
          </a:p>
          <a:p>
            <a:pPr>
              <a:defRPr sz="1600"/>
            </a:pPr>
            <a:r>
              <a:t>David — MScAC (Applied Math)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we start... where in the GTA are you?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Scan the QR code or open the link to join the live map</a:t>
            </a:r>
          </a:p>
          <a:p>
            <a:pPr>
              <a:defRPr sz="2200"/>
            </a:pPr>
            <a:r>
              <a:t>Duplicate a pin, drag it onto your neighbourhood</a:t>
            </a:r>
          </a:p>
        </p:txBody>
      </p:sp>
      <p:pic>
        <p:nvPicPr>
          <p:cNvPr id="4" name="Picture 3" descr="icebreaker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1463040"/>
            <a:ext cx="237744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57055" y="38862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</a:defRPr>
            </a:pPr>
            <a:r>
              <a:t>Live GTA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Weekends in Toronto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Weekends in Toronto: Summer/Fall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Parks &amp; waterfront: High Park (cherry blossoms in spring), Toronto Islands (ferry ~$10 return), Waterfront Boardwalk</a:t>
            </a:r>
          </a:p>
          <a:p>
            <a:pPr>
              <a:defRPr sz="1800"/>
            </a:pPr>
            <a:r>
              <a:t>Neighbourhoods: Chinatown, Koreatown (Bloor &amp; Christie), Greektown (the Danforth), Little Italy (College St)</a:t>
            </a:r>
          </a:p>
          <a:p>
            <a:pPr>
              <a:defRPr sz="1800"/>
            </a:pPr>
            <a:r>
              <a:t>Niagara Falls (day trip, GO train or bus or car) + Niagara-On-The-Lake</a:t>
            </a:r>
          </a:p>
          <a:p>
            <a:pPr>
              <a:defRPr sz="1800"/>
            </a:pPr>
            <a:r>
              <a:t>Blue Jays game at Rogers Centre</a:t>
            </a:r>
          </a:p>
          <a:p>
            <a:pPr>
              <a:defRPr sz="1800"/>
            </a:pPr>
            <a:r>
              <a:t>Canadian National Exhibition (late August)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Weekends in Toronto: Spring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Ice Skating at U of T Varsity Arena ($3.30 rental)</a:t>
            </a:r>
          </a:p>
          <a:p>
            <a:pPr>
              <a:defRPr sz="1800"/>
            </a:pPr>
            <a:r>
              <a:t>Earl Bales Ski &amp; Snowboard Center (North York)</a:t>
            </a:r>
          </a:p>
          <a:p>
            <a:pPr>
              <a:defRPr sz="1800"/>
            </a:pPr>
            <a:r>
              <a:t>Blue Mountain Ski Resort</a:t>
            </a:r>
          </a:p>
          <a:p>
            <a:pPr>
              <a:defRPr sz="1800"/>
            </a:pPr>
            <a:r>
              <a:t>Culture: Royal Ontario Museum (student rate, also free on Tuesdays)</a:t>
            </a:r>
          </a:p>
          <a:p>
            <a:pPr>
              <a:defRPr sz="1800"/>
            </a:pPr>
            <a:r>
              <a:t>Cards to get: PRESTO, Toronto Public Libraries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MScAC Student Initiative Fund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few things the cohort has run this year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584" y="1600200"/>
          <a:ext cx="100584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1554480"/>
              </a:tblGrid>
              <a:tr h="754327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What it 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Funded</a:t>
                      </a:r>
                    </a:p>
                  </a:txBody>
                  <a:tcPr/>
                </a:tc>
              </a:tr>
              <a:tr h="75432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Ski Trip (Blue Mountain)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Full-day ski/snowboard trip, bus + lift tickets subsidized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$2,760</a:t>
                      </a:r>
                    </a:p>
                  </a:txBody>
                  <a:tcPr/>
                </a:tc>
              </a:tr>
              <a:tr h="75432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Bouldering &amp; Social Mixer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Climbing + dinner, peer mentorship for beginners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$1,050</a:t>
                      </a:r>
                    </a:p>
                  </a:txBody>
                  <a:tcPr/>
                </a:tc>
              </a:tr>
              <a:tr h="75432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Board Game Nights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4-week recurring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$650</a:t>
                      </a:r>
                    </a:p>
                  </a:txBody>
                  <a:tcPr/>
                </a:tc>
              </a:tr>
              <a:tr h="75432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CNY Celebration &amp; Alumni Mixer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Dinner, Lo Hei, karaoke, alumni invited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$2,315</a:t>
                      </a:r>
                    </a:p>
                  </a:txBody>
                  <a:tcPr/>
                </a:tc>
              </a:tr>
              <a:tr h="7543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ML Trivia 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Dinner + trivia ahead of recruiting 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$960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 at all the fun we've had</a:t>
            </a:r>
          </a:p>
        </p:txBody>
      </p:sp>
      <p:pic>
        <p:nvPicPr>
          <p:cNvPr id="3" name="Picture 2" descr="cro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2834640" cy="2057400"/>
          </a:xfrm>
          <a:prstGeom prst="rect">
            <a:avLst/>
          </a:prstGeom>
        </p:spPr>
      </p:pic>
      <p:pic>
        <p:nvPicPr>
          <p:cNvPr id="4" name="Picture 3" descr="crop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234440"/>
            <a:ext cx="2834640" cy="2057400"/>
          </a:xfrm>
          <a:prstGeom prst="rect">
            <a:avLst/>
          </a:prstGeom>
        </p:spPr>
      </p:pic>
      <p:pic>
        <p:nvPicPr>
          <p:cNvPr id="5" name="Picture 4" descr="cro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234440"/>
            <a:ext cx="2834640" cy="2057400"/>
          </a:xfrm>
          <a:prstGeom prst="rect">
            <a:avLst/>
          </a:prstGeom>
        </p:spPr>
      </p:pic>
      <p:pic>
        <p:nvPicPr>
          <p:cNvPr id="6" name="Picture 5" descr="crop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234440"/>
            <a:ext cx="2834640" cy="2057400"/>
          </a:xfrm>
          <a:prstGeom prst="rect">
            <a:avLst/>
          </a:prstGeom>
        </p:spPr>
      </p:pic>
      <p:pic>
        <p:nvPicPr>
          <p:cNvPr id="7" name="Picture 6" descr="crop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383280"/>
            <a:ext cx="2834640" cy="2057400"/>
          </a:xfrm>
          <a:prstGeom prst="rect">
            <a:avLst/>
          </a:prstGeom>
        </p:spPr>
      </p:pic>
      <p:pic>
        <p:nvPicPr>
          <p:cNvPr id="8" name="Picture 7" descr="crop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0" y="3383280"/>
            <a:ext cx="2834640" cy="2057400"/>
          </a:xfrm>
          <a:prstGeom prst="rect">
            <a:avLst/>
          </a:prstGeom>
        </p:spPr>
      </p:pic>
      <p:pic>
        <p:nvPicPr>
          <p:cNvPr id="9" name="Picture 8" descr="crop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3383280"/>
            <a:ext cx="2834640" cy="2057400"/>
          </a:xfrm>
          <a:prstGeom prst="rect">
            <a:avLst/>
          </a:prstGeom>
        </p:spPr>
      </p:pic>
      <p:pic>
        <p:nvPicPr>
          <p:cNvPr id="10" name="Picture 9" descr="crop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0" y="3383280"/>
            <a:ext cx="283464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ideas to start you off this Fall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584" y="1600200"/>
          <a:ext cx="100584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486400"/>
                <a:gridCol w="1554480"/>
              </a:tblGrid>
              <a:tr h="90519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Cost</a:t>
                      </a:r>
                    </a:p>
                  </a:txBody>
                  <a:tcPr/>
                </a:tc>
              </a:tr>
              <a:tr h="90519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K1 Speed Go-Karting (North York)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Great fun near the Downsview Park TTC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$82/person</a:t>
                      </a:r>
                    </a:p>
                  </a:txBody>
                  <a:tcPr/>
                </a:tc>
              </a:tr>
              <a:tr h="90519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Basecamp Climbing (Queen West)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Self-explanatory and we had dinner subsidised too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$35/person</a:t>
                      </a:r>
                    </a:p>
                  </a:txBody>
                  <a:tcPr/>
                </a:tc>
              </a:tr>
              <a:tr h="90519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Canada's Wonderland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 GTA's rollercoaster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$45/person</a:t>
                      </a:r>
                    </a:p>
                  </a:txBody>
                  <a:tcPr/>
                </a:tc>
              </a:tr>
              <a:tr h="90519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Activate Toronto (Stockyards)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All-ages arcade park; 75-min active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$30/person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defRPr sz="1600"/>
            </a:pPr>
            <a:r>
              <a:t>In the office</a:t>
            </a:r>
          </a:p>
          <a:p>
            <a:pPr lvl="1">
              <a:defRPr sz="1600"/>
            </a:pPr>
            <a:r>
              <a:t>Location: MScAC Office rooms like 9016</a:t>
            </a:r>
          </a:p>
          <a:p>
            <a:pPr lvl="1">
              <a:defRPr sz="1600"/>
            </a:pPr>
            <a:r>
              <a:t>Food: order delivery where possible — Mother's Dumpling (Chinese), Tahini's (shawarma), pizza (you'll get sick of this)</a:t>
            </a:r>
          </a:p>
          <a:p>
            <a:pPr lvl="1">
              <a:defRPr sz="1600"/>
            </a:pPr>
            <a:r>
              <a:t>Stock up on cutlery, plates and cups from Dollarama</a:t>
            </a:r>
          </a:p>
          <a:p>
            <a:pPr lvl="1">
              <a:defRPr sz="1600"/>
            </a:pPr>
            <a:r>
              <a:t>Buy big bottles of drinks from Shoppers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defRPr sz="1600"/>
            </a:pPr>
            <a:r>
              <a:t>Outside the office</a:t>
            </a:r>
          </a:p>
          <a:p>
            <a:pPr lvl="1">
              <a:defRPr sz="1600"/>
            </a:pPr>
            <a:r>
              <a:t>Show up, snap a picture or two, have fun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Guidelines from MScAC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Open to the entire cohort</a:t>
            </a:r>
          </a:p>
          <a:p>
            <a:pPr>
              <a:defRPr sz="2000"/>
            </a:pPr>
            <a:r>
              <a:t>No alcohol, gambling / games of chance (stakes, betting pools, wagering)</a:t>
            </a:r>
          </a:p>
          <a:p>
            <a:pPr>
              <a:defRPr sz="2000"/>
            </a:pPr>
            <a:r>
              <a:t>Proposal is one page: summary, goals, benefits, timeline, itemized budget (just use my Claude Code repo or something)</a:t>
            </a:r>
          </a:p>
          <a:p>
            <a:pPr>
              <a:defRPr sz="2000"/>
            </a:pPr>
            <a:r>
              <a:t>You must be registered + in good academic standing (which is why us alumni need you to keep this 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77777"/>
                </a:solidFill>
              </a:defRPr>
            </a:pPr>
            <a:r>
              <a:t>(Source: MScAC Student-led Initiatives Guidelines)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Submit a proposal 2 weeks ahead (the start of the semester is always a little busier)</a:t>
            </a:r>
          </a:p>
          <a:p>
            <a:pPr>
              <a:defRPr sz="1800"/>
            </a:pPr>
            <a:r>
              <a:t>MScAC promises to confirm funding within 5 business days of your email</a:t>
            </a:r>
          </a:p>
          <a:p>
            <a:pPr>
              <a:defRPr sz="1800"/>
            </a:pPr>
            <a:r>
              <a:t>After event: submit the attendance list (Partiful / written attendance sheet / Google Form), receipts, copy of original invite, and photos if applicable</a:t>
            </a:r>
          </a:p>
          <a:p>
            <a:pPr>
              <a:defRPr sz="1800"/>
            </a:pPr>
            <a:r>
              <a:t>Expect reimbursement via cheque/direct deposit (if you're a TA) about 4-6 weeks after</a:t>
            </a:r>
          </a:p>
          <a:p>
            <a:pPr>
              <a:defRPr sz="1800"/>
            </a:pPr>
            <a:r>
              <a:t>Past asks have ranged $650 – $2,760 depending on format and 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Initiatives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1. Discord poll — gauge interest before writing anything</a:t>
            </a:r>
          </a:p>
          <a:p>
            <a:pPr>
              <a:defRPr sz="2000"/>
            </a:pPr>
            <a:r>
              <a:t>2. Submit one-page proposal — real example at end of presentation</a:t>
            </a:r>
          </a:p>
          <a:p>
            <a:pPr>
              <a:defRPr sz="2000"/>
            </a:pPr>
            <a:r>
              <a:t>3. Partiful — collect RSVPs + dietary restrictions once confirmed</a:t>
            </a:r>
          </a:p>
          <a:p>
            <a:pPr>
              <a:defRPr sz="2000"/>
            </a:pPr>
            <a:r>
              <a:t>4. EVENT</a:t>
            </a:r>
          </a:p>
          <a:p>
            <a:pPr>
              <a:defRPr sz="2000"/>
            </a:pPr>
            <a:r>
              <a:t>5. Submit receipts + attendee list + invitation</a:t>
            </a:r>
          </a:p>
          <a:p>
            <a:pPr>
              <a:defRPr sz="2000"/>
            </a:pPr>
            <a:r>
              <a:t>6. Reimbursement lands in ~4-6 weeks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real proposal actually looks like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(switching to the actual Bouldering proposal document)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Want to run one yourself?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Pick one, co-run it with me: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K1 Speed Go-Karting (round 2)</a:t>
            </a:r>
          </a:p>
          <a:p>
            <a:pPr>
              <a:defRPr sz="2000"/>
            </a:pPr>
            <a:r>
              <a:t>Basecamp Climbing</a:t>
            </a:r>
          </a:p>
          <a:p>
            <a:pPr>
              <a:defRPr sz="2000"/>
            </a:pPr>
            <a:r>
              <a:t>Canada's Wonderland</a:t>
            </a:r>
          </a:p>
          <a:p>
            <a:pPr>
              <a:defRPr sz="2000"/>
            </a:pPr>
            <a:r>
              <a:t>Activate Toronto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I'll help with the proposal, the budget, and the logistics to get you started.</a:t>
            </a:r>
          </a:p>
          <a:p>
            <a:pPr>
              <a:defRPr sz="2000"/>
            </a:pPr>
            <a:r>
              <a:t>Sign up here: [Discord link — TBD]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[QR code to Discord signup — add once link is set]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